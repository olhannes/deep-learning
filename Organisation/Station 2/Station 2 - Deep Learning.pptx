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62" r:id="rId7"/>
    <p:sldId id="279" r:id="rId8"/>
    <p:sldId id="280" r:id="rId9"/>
    <p:sldId id="266" r:id="rId10"/>
    <p:sldId id="260" r:id="rId11"/>
    <p:sldId id="272" r:id="rId12"/>
    <p:sldId id="270" r:id="rId13"/>
    <p:sldId id="269" r:id="rId14"/>
    <p:sldId id="276" r:id="rId15"/>
    <p:sldId id="277" r:id="rId16"/>
    <p:sldId id="278" r:id="rId17"/>
    <p:sldId id="263" r:id="rId18"/>
    <p:sldId id="284" r:id="rId19"/>
    <p:sldId id="291" r:id="rId20"/>
    <p:sldId id="292" r:id="rId21"/>
    <p:sldId id="287" r:id="rId22"/>
    <p:sldId id="290" r:id="rId23"/>
    <p:sldId id="268" r:id="rId24"/>
    <p:sldId id="286" r:id="rId25"/>
    <p:sldId id="288" r:id="rId26"/>
    <p:sldId id="281" r:id="rId27"/>
    <p:sldId id="293" r:id="rId28"/>
    <p:sldId id="289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D18FE8-3CF3-28F5-63B6-57A429C9C859}" name="Hannes Olschok" initials="HO" userId="S::Hannes.Olschok@fhbi.onmicrosoft.com::8badc2cb-d8a6-4a41-94d3-8db70f2406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73893C-BC7B-C0FF-E485-AC1C130DACC0}" v="222" dt="2026-06-08T10:48:22.678"/>
    <p1510:client id="{821186A0-E335-42F6-B4EC-80D4B7DDF795}" v="905" dt="2026-06-08T12:26:15.640"/>
    <p1510:client id="{838BF852-0325-0C6E-3D00-146A09C0F8AB}" v="252" dt="2026-06-07T21:10:48.219"/>
    <p1510:client id="{B0EC892E-5965-6014-2211-330A69B44EDB}" v="4" dt="2026-06-07T21:12:22.223"/>
    <p1510:client id="{CB5B891B-90C1-9DB0-3604-ECAF2672C2E1}" v="78" dt="2026-06-07T21:23:27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3758" autoAdjust="0"/>
  </p:normalViewPr>
  <p:slideViewPr>
    <p:cSldViewPr snapToGrid="0">
      <p:cViewPr varScale="1">
        <p:scale>
          <a:sx n="79" d="100"/>
          <a:sy n="79" d="100"/>
        </p:scale>
        <p:origin x="84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Modell 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Bacterial Spot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CD-4521-A3C9-36EEAD802EF2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Early Blight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CD-4521-A3C9-36EEAD802EF2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Late Blight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CD-4521-A3C9-36EEAD802EF2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Leaf Mold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6CD-4521-A3C9-36EEAD802EF2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Septorial Leaf Spot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CD-4521-A3C9-36EEAD802EF2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Spider Mites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CD-4521-A3C9-36EEAD802EF2}"/>
            </c:ext>
          </c:extLst>
        </c:ser>
        <c:ser>
          <c:idx val="6"/>
          <c:order val="6"/>
          <c:tx>
            <c:strRef>
              <c:f>Tabelle1!$H$1</c:f>
              <c:strCache>
                <c:ptCount val="1"/>
                <c:pt idx="0">
                  <c:v>Target Spot</c:v>
                </c:pt>
              </c:strCache>
            </c:strRef>
          </c:tx>
          <c:spPr>
            <a:solidFill>
              <a:schemeClr val="accent1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Tabelle1!$H$2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CD-4521-A3C9-36EEAD802EF2}"/>
            </c:ext>
          </c:extLst>
        </c:ser>
        <c:ser>
          <c:idx val="7"/>
          <c:order val="7"/>
          <c:tx>
            <c:strRef>
              <c:f>Tabelle1!$I$1</c:f>
              <c:strCache>
                <c:ptCount val="1"/>
                <c:pt idx="0">
                  <c:v>Yellow Leaf Curl Virus</c:v>
                </c:pt>
              </c:strCache>
            </c:strRef>
          </c:tx>
          <c:spPr>
            <a:solidFill>
              <a:schemeClr val="accent2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Tabelle1!$I$2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6CD-4521-A3C9-36EEAD802EF2}"/>
            </c:ext>
          </c:extLst>
        </c:ser>
        <c:ser>
          <c:idx val="8"/>
          <c:order val="8"/>
          <c:tx>
            <c:strRef>
              <c:f>Tabelle1!$J$1</c:f>
              <c:strCache>
                <c:ptCount val="1"/>
                <c:pt idx="0">
                  <c:v>Mosaic Virus</c:v>
                </c:pt>
              </c:strCache>
            </c:strRef>
          </c:tx>
          <c:spPr>
            <a:solidFill>
              <a:schemeClr val="accent3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Tabelle1!$J$2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6CD-4521-A3C9-36EEAD802EF2}"/>
            </c:ext>
          </c:extLst>
        </c:ser>
        <c:ser>
          <c:idx val="9"/>
          <c:order val="9"/>
          <c:tx>
            <c:strRef>
              <c:f>Tabelle1!$K$1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chemeClr val="accent4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Tabelle1!$K$2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6CD-4521-A3C9-36EEAD802EF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205768175"/>
        <c:axId val="1205754735"/>
      </c:barChart>
      <c:catAx>
        <c:axId val="1205768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05754735"/>
        <c:crosses val="autoZero"/>
        <c:auto val="1"/>
        <c:lblAlgn val="ctr"/>
        <c:lblOffset val="100"/>
        <c:noMultiLvlLbl val="0"/>
      </c:catAx>
      <c:valAx>
        <c:axId val="120575473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05768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Modell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Bacterial Spot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97.65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CD-4521-A3C9-36EEAD802EF2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Early Blight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67.5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CD-4521-A3C9-36EEAD802EF2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Late Blight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93.99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CD-4521-A3C9-36EEAD802EF2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Leaf Mold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6CD-4521-A3C9-36EEAD802EF2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Septorial Leaf Spot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Tabelle1!$F$2</c:f>
              <c:numCache>
                <c:formatCode>General</c:formatCode>
                <c:ptCount val="1"/>
                <c:pt idx="0">
                  <c:v>81.41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CD-4521-A3C9-36EEAD802EF2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Spider Mites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Tabelle1!$G$2</c:f>
              <c:numCache>
                <c:formatCode>General</c:formatCode>
                <c:ptCount val="1"/>
                <c:pt idx="0">
                  <c:v>90.77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CD-4521-A3C9-36EEAD802EF2}"/>
            </c:ext>
          </c:extLst>
        </c:ser>
        <c:ser>
          <c:idx val="6"/>
          <c:order val="6"/>
          <c:tx>
            <c:strRef>
              <c:f>Tabelle1!$H$1</c:f>
              <c:strCache>
                <c:ptCount val="1"/>
                <c:pt idx="0">
                  <c:v>Target Spot</c:v>
                </c:pt>
              </c:strCache>
            </c:strRef>
          </c:tx>
          <c:spPr>
            <a:solidFill>
              <a:schemeClr val="accent1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Tabelle1!$H$2</c:f>
              <c:numCache>
                <c:formatCode>General</c:formatCode>
                <c:ptCount val="1"/>
                <c:pt idx="0">
                  <c:v>81.56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CD-4521-A3C9-36EEAD802EF2}"/>
            </c:ext>
          </c:extLst>
        </c:ser>
        <c:ser>
          <c:idx val="7"/>
          <c:order val="7"/>
          <c:tx>
            <c:strRef>
              <c:f>Tabelle1!$I$1</c:f>
              <c:strCache>
                <c:ptCount val="1"/>
                <c:pt idx="0">
                  <c:v>Yellow Leaf Curl Virus</c:v>
                </c:pt>
              </c:strCache>
            </c:strRef>
          </c:tx>
          <c:spPr>
            <a:solidFill>
              <a:schemeClr val="accent2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Tabelle1!$I$2</c:f>
              <c:numCache>
                <c:formatCode>General</c:formatCode>
                <c:ptCount val="1"/>
                <c:pt idx="0">
                  <c:v>98.6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6CD-4521-A3C9-36EEAD802EF2}"/>
            </c:ext>
          </c:extLst>
        </c:ser>
        <c:ser>
          <c:idx val="8"/>
          <c:order val="8"/>
          <c:tx>
            <c:strRef>
              <c:f>Tabelle1!$J$1</c:f>
              <c:strCache>
                <c:ptCount val="1"/>
                <c:pt idx="0">
                  <c:v>Mosaic Virus</c:v>
                </c:pt>
              </c:strCache>
            </c:strRef>
          </c:tx>
          <c:spPr>
            <a:solidFill>
              <a:schemeClr val="accent3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Tabelle1!$J$2</c:f>
              <c:numCache>
                <c:formatCode>General</c:formatCode>
                <c:ptCount val="1"/>
                <c:pt idx="0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6CD-4521-A3C9-36EEAD802EF2}"/>
            </c:ext>
          </c:extLst>
        </c:ser>
        <c:ser>
          <c:idx val="9"/>
          <c:order val="9"/>
          <c:tx>
            <c:strRef>
              <c:f>Tabelle1!$K$1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chemeClr val="accent4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Klassen</c:v>
                </c:pt>
              </c:strCache>
            </c:strRef>
          </c:cat>
          <c:val>
            <c:numRef>
              <c:f>Tabelle1!$K$2</c:f>
              <c:numCache>
                <c:formatCode>General</c:formatCode>
                <c:ptCount val="1"/>
                <c:pt idx="0">
                  <c:v>93.42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6CD-4521-A3C9-36EEAD802EF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205768175"/>
        <c:axId val="1205754735"/>
      </c:barChart>
      <c:catAx>
        <c:axId val="1205768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05754735"/>
        <c:crosses val="autoZero"/>
        <c:auto val="1"/>
        <c:lblAlgn val="ctr"/>
        <c:lblOffset val="100"/>
        <c:noMultiLvlLbl val="0"/>
      </c:catAx>
      <c:valAx>
        <c:axId val="120575473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05768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C1F6D-B997-4D2F-B89D-24AFF3E36C3F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0A233-68BD-4DA6-8D53-1C6CE401C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74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Zum Vergleich der letzten Ergebnisse nehmen wir das beste und schlechteste Modell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0A233-68BD-4DA6-8D53-1C6CE401C39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789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Modell 5 als schlechtestes Modell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0A233-68BD-4DA6-8D53-1C6CE401C39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938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Modell 1 als beste Variation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0A233-68BD-4DA6-8D53-1C6CE401C39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8711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A8EF3-3DAA-AFCF-1F29-E9A61F864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4184AE-7DBD-52B8-1BB2-A8802505E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F8138C-8180-AE6E-5813-5186799ED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BAB0-E7B9-4473-B510-E99B646EE3A6}" type="datetime1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4F048E-7343-2EAC-4EB1-E2EC3D3C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5A9063-3108-A0DB-3498-1F777BFA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663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D299F-556D-0B23-76F5-5376503C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665D78-67CC-6480-8CB9-B3BEB0BC1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519CFE-44A8-0C41-715D-18905F98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E2C6-E0DD-434A-9F68-0CAE4BEA19B2}" type="datetime1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256C70-5D06-F17E-C752-80892EA2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01FC05-F934-D20E-0893-30FA9B87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06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567D7-1A3F-004E-792C-9AFBC177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D486E9-88E7-A796-1E9C-549304DEB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F3AA77-B824-BF1C-E890-4BF6D6653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EDF9-307E-41F1-80C0-9AFE387A3EBB}" type="datetime1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E9623C-06B3-3E5E-EDF1-D993A0DA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A9B45F-3EE8-D4AF-86F7-A5984E73C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782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C08F0-5E1C-3BB5-60A4-ED4FAEDA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819AB8-428F-28AE-37D7-1C65448A3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C3C205-25EF-4A55-A3BE-8B8128F41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DF18E3-7571-38C4-DA73-A7275645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750F-C57A-40BF-826A-9E34AB6BE849}" type="datetime1">
              <a:rPr lang="de-DE" smtClean="0"/>
              <a:t>08.06.2026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359465-7EC8-00C6-0A28-3468AF8E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FA4AD7-E0AC-CDEB-7286-33CA80FA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45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49214C-72D8-8BB7-0524-85ADAA86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F966D6-BA3D-979A-4EB6-654AB3ECD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E9495F-036E-6C89-8676-4CF053059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0654B33-EF69-B598-8107-7863FB448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E7B5E6-CB44-B979-F26A-8A5EB0CC1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04F7B4-8DC7-D978-363C-EA8BD519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4F0F-B224-48EE-89F7-6DC257B72708}" type="datetime1">
              <a:rPr lang="de-DE" smtClean="0"/>
              <a:t>08.06.2026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3928C4C-810A-7E37-0156-01AD7439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672383B-1431-DC79-E176-4DB502CF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943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BC233-598F-FCBB-4383-10D08971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E9B200-FF3D-C767-1654-8FB1B474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A674F-89E8-45BC-910D-F18FD6EE0A5D}" type="datetime1">
              <a:rPr lang="de-DE" smtClean="0"/>
              <a:t>08.06.2026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A7DEC2-0009-E6FE-882B-F1736F4C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8BFED-F86B-E949-AC2E-D478BE64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89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34C5F8-689A-28F3-2676-AF3A9543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0053B-53CA-4985-A747-EE0E5B9F2A70}" type="datetime1">
              <a:rPr lang="de-DE" smtClean="0"/>
              <a:t>08.06.2026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1D8926-D41F-B1D1-3536-CF9F969F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1A31E4-F4A5-C345-3FFA-852B552D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144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3FBF57-001F-92AE-A7BC-E10CC1688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F1F61-8E67-E031-6E2D-982ECC23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0B6623-A8B6-72DE-11D5-D42B63818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6AF17B-9A7C-6406-29FF-8B0286E1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A6C26-7963-49AC-BE63-0D74179C1BAC}" type="datetime1">
              <a:rPr lang="de-DE" smtClean="0"/>
              <a:t>08.06.2026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135537-3D21-ADE3-6501-7F64B8F6A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5912BF-4FFF-7CF4-76B3-8FCA1444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5518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B77268-B6A2-5387-D313-250B7117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890191-2492-D0FF-4B01-D9100D021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4EF226-EB4C-E436-FF28-4692AEB75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5D37D4-2DA5-0FF9-AC75-110195C5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810D-B96D-4375-8BDE-5BE49F7B2DB4}" type="datetime1">
              <a:rPr lang="de-DE" smtClean="0"/>
              <a:t>08.06.2026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B533B5-C167-66B7-C7B0-88D3833D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D8A44C-7CED-94BE-BB17-DAC6DF86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698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1916D6-2E11-6BF9-FB0C-E2E9D231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7559A0-097F-4959-34C4-07CF2C06B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5D467B-B90E-C7C3-D5E6-19139C1E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13E5-1548-46BA-B216-07C3ECB3EE76}" type="datetime1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68307B-BCBB-D454-CE0C-CA58B652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0FDF00-696C-62AD-A1B4-3370E5D9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90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64B23B5-1C61-9713-B648-A01769661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107C7E-BF3F-FA45-5161-4AB12D34E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F49CB0-0F19-9B60-E821-872F3C74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3327-7EB8-4215-8363-B75A449580ED}" type="datetime1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7B1FE2-1839-183E-F07B-9A3AD776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C9C086-51CC-644F-C22E-C1C4E1A3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969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380262-9F1A-D881-9CD6-6A1D5BCB2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246C5C-24EA-5D9F-FBB5-E0A060152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A4651C-6E6D-4883-AE5B-EC010A70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D1BBD-3BD0-4B3D-8641-6B310585E73B}" type="datetime1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562803-06C3-3254-EBD1-15E8AF792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Marius Rösner &amp; Hannes Olschok - Deep Learning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4658C3-3A03-0FE1-FB2D-E7A0C2D84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3F824-EAFD-48EF-97E1-71FACC797DE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296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mendeley.com/datasets/tywbtsjrjv/1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Tomaten Pflanzen pflegen: 12 ultimative Tipps direkt vom Gärtner ...">
            <a:extLst>
              <a:ext uri="{FF2B5EF4-FFF2-40B4-BE49-F238E27FC236}">
                <a16:creationId xmlns:a16="http://schemas.microsoft.com/office/drawing/2014/main" id="{22945DB2-839F-D926-B971-FE1CD4664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-728869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ED17F01-68A0-0A83-27EB-691E5A887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657722"/>
            <a:ext cx="4180398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de-DE" sz="5200"/>
              <a:t>Station 2 – Deep Learning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0C73B1-580E-51E7-CABC-1843E1E12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2" y="4629234"/>
            <a:ext cx="3986521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de-DE"/>
              <a:t>Transfer Learning für Tomatenblatt-Klassifikation</a:t>
            </a:r>
          </a:p>
        </p:txBody>
      </p:sp>
    </p:spTree>
    <p:extLst>
      <p:ext uri="{BB962C8B-B14F-4D97-AF65-F5344CB8AC3E}">
        <p14:creationId xmlns:p14="http://schemas.microsoft.com/office/powerpoint/2010/main" val="1814721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6EF7C8-F2B5-1E4E-23BF-6C6A8329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B47E75-2148-5F13-FD5E-AA1AC2735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79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Thema</a:t>
            </a:r>
          </a:p>
          <a:p>
            <a:r>
              <a:rPr lang="de-DE"/>
              <a:t>Recap Station 1</a:t>
            </a:r>
          </a:p>
          <a:p>
            <a:pPr lvl="1"/>
            <a:r>
              <a:rPr lang="de-DE"/>
              <a:t>Ergebnisse</a:t>
            </a:r>
          </a:p>
          <a:p>
            <a:r>
              <a:rPr lang="de-DE"/>
              <a:t>Transfer Learning – Station 2</a:t>
            </a:r>
          </a:p>
          <a:p>
            <a:pPr lvl="1"/>
            <a:r>
              <a:rPr lang="de-DE"/>
              <a:t>Modelle</a:t>
            </a:r>
          </a:p>
          <a:p>
            <a:pPr lvl="1"/>
            <a:r>
              <a:rPr lang="de-DE"/>
              <a:t>Aufbau</a:t>
            </a:r>
          </a:p>
          <a:p>
            <a:pPr lvl="1"/>
            <a:r>
              <a:rPr lang="de-DE"/>
              <a:t>Ergebnis</a:t>
            </a:r>
          </a:p>
          <a:p>
            <a:r>
              <a:rPr lang="de-DE"/>
              <a:t>Evaluation &amp; Fazit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5A6220-AA92-2B13-2B12-9DBB726B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B0D991-091B-B8CC-A371-A0A3302C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2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C06BF947-CA2E-FDF2-ECBD-BB79A4D5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49C8319-1BF3-60E0-B0CE-04907EECBBAB}"/>
              </a:ext>
            </a:extLst>
          </p:cNvPr>
          <p:cNvCxnSpPr>
            <a:cxnSpLocks/>
          </p:cNvCxnSpPr>
          <p:nvPr/>
        </p:nvCxnSpPr>
        <p:spPr>
          <a:xfrm>
            <a:off x="776654" y="1477108"/>
            <a:ext cx="1063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fik 13" descr="Cartoon Tomatenpflanze PNG Bilder | Vektoren Und PSD Dateien | Kostenloser  Download Auf Pngtree">
            <a:extLst>
              <a:ext uri="{FF2B5EF4-FFF2-40B4-BE49-F238E27FC236}">
                <a16:creationId xmlns:a16="http://schemas.microsoft.com/office/drawing/2014/main" id="{B3CDF805-558F-7AA5-5B0C-77401CDC2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096" y="3422657"/>
            <a:ext cx="3961250" cy="396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7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8E4B23-7250-30F4-1C55-99B6BE16F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4A3DED1-7FBF-7F5D-3915-1F7EABAD25CC}"/>
              </a:ext>
            </a:extLst>
          </p:cNvPr>
          <p:cNvCxnSpPr>
            <a:cxnSpLocks/>
          </p:cNvCxnSpPr>
          <p:nvPr/>
        </p:nvCxnSpPr>
        <p:spPr>
          <a:xfrm>
            <a:off x="776654" y="3463725"/>
            <a:ext cx="1063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008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DD3FE-049C-E038-8F81-C9FCF665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782DDE-CF09-EA2B-D083-00A61A97B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09AA09-02B0-F843-7C55-C6EE1F42C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de-DE"/>
              <a:t>Transfer-Learning zur Klassifikation von Tomatenpflanzen-Krankheiten</a:t>
            </a:r>
          </a:p>
          <a:p>
            <a:pPr marL="0" indent="0">
              <a:buNone/>
            </a:pPr>
            <a:r>
              <a:rPr lang="de-DE"/>
              <a:t>Datengrundlage: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18.835 Bilder von Tomatenpflanzenblättern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Bilder wurden bereits durch 6 </a:t>
            </a:r>
            <a:r>
              <a:rPr lang="de-DE" err="1"/>
              <a:t>Augmentierungstechniken</a:t>
            </a:r>
            <a:r>
              <a:rPr lang="de-DE"/>
              <a:t> erweitert: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de-DE"/>
              <a:t>Spiegeln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de-DE"/>
              <a:t>Gamma-Korrektur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de-DE"/>
              <a:t>Bildrauschen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de-DE"/>
              <a:t>PCA Farb-</a:t>
            </a:r>
            <a:r>
              <a:rPr lang="de-DE" err="1"/>
              <a:t>Augmentierung</a:t>
            </a:r>
            <a:endParaRPr lang="de-DE"/>
          </a:p>
          <a:p>
            <a:pPr lvl="1">
              <a:buFont typeface="Calibri" panose="020B0604020202020204" pitchFamily="34" charset="0"/>
              <a:buChar char="-"/>
            </a:pPr>
            <a:r>
              <a:rPr lang="de-DE"/>
              <a:t>Rotation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de-DE"/>
              <a:t>Skalierung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10 verschiedene Klassen</a:t>
            </a:r>
          </a:p>
          <a:p>
            <a:pPr>
              <a:buFont typeface="Calibri" panose="020B0604020202020204" pitchFamily="34" charset="0"/>
              <a:buChar char="-"/>
            </a:pP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BED64F-BC58-6A07-6FED-2005449B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BBCAD5-A38A-BB3B-9A17-56A964CB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4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FC6B478A-16B9-700C-42F5-DFE90733F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0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A3553-7F7D-B5CA-7720-A6F58A50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89C508-15E4-0FAC-C34B-94D59AA3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Thema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0BE737-1D0B-A5CA-7B20-5721B101E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pPr>
              <a:buFont typeface="Calibri" panose="020B0604020202020204" pitchFamily="34" charset="0"/>
              <a:buChar char="-"/>
            </a:pP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FFA181-E88F-6ABB-4836-7277EFAF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3F5FC-E74F-3089-C608-9015F9A6D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5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907B4561-F615-C238-4AC1-B0510BFC5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pic>
        <p:nvPicPr>
          <p:cNvPr id="7" name="Grafik 6" descr="Ein Bild, das Blatt, Gelände, Grün, Pflan­zen­pa­tho­lo­gie enthält.&#10;&#10;KI-generierte Inhalte können fehlerhaft sein.">
            <a:extLst>
              <a:ext uri="{FF2B5EF4-FFF2-40B4-BE49-F238E27FC236}">
                <a16:creationId xmlns:a16="http://schemas.microsoft.com/office/drawing/2014/main" id="{26FB896A-3A90-5EE4-4664-4D3FE90F0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83" y="1873623"/>
            <a:ext cx="1553136" cy="1553136"/>
          </a:xfrm>
          <a:prstGeom prst="rect">
            <a:avLst/>
          </a:prstGeom>
        </p:spPr>
      </p:pic>
      <p:pic>
        <p:nvPicPr>
          <p:cNvPr id="8" name="Grafik 7" descr="Ein Bild, das Pflan­zen­pa­tho­lo­gie, Gelände, Blatt, Pflanze enthält.&#10;&#10;KI-generierte Inhalte können fehlerhaft sein.">
            <a:extLst>
              <a:ext uri="{FF2B5EF4-FFF2-40B4-BE49-F238E27FC236}">
                <a16:creationId xmlns:a16="http://schemas.microsoft.com/office/drawing/2014/main" id="{E8DA3C68-26F7-5914-177C-1BE9AB1C1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242" y="1873623"/>
            <a:ext cx="1564342" cy="1553136"/>
          </a:xfrm>
          <a:prstGeom prst="rect">
            <a:avLst/>
          </a:prstGeom>
        </p:spPr>
      </p:pic>
      <p:pic>
        <p:nvPicPr>
          <p:cNvPr id="9" name="Grafik 8" descr="Ein Bild, das Pflan­zen­pa­tho­lo­gie, Baum, draußen, Pflanze enthält.&#10;&#10;KI-generierte Inhalte können fehlerhaft sein.">
            <a:extLst>
              <a:ext uri="{FF2B5EF4-FFF2-40B4-BE49-F238E27FC236}">
                <a16:creationId xmlns:a16="http://schemas.microsoft.com/office/drawing/2014/main" id="{B7C33BE3-F838-8F8A-66C6-9E4558EA5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417" y="1873623"/>
            <a:ext cx="1597959" cy="1564342"/>
          </a:xfrm>
          <a:prstGeom prst="rect">
            <a:avLst/>
          </a:prstGeom>
        </p:spPr>
      </p:pic>
      <p:pic>
        <p:nvPicPr>
          <p:cNvPr id="10" name="Grafik 9" descr="Ein Bild, das Pflan­zen­pa­tho­lo­gie, Blatt, Gelände, draußen enthält.&#10;&#10;KI-generierte Inhalte können fehlerhaft sein.">
            <a:extLst>
              <a:ext uri="{FF2B5EF4-FFF2-40B4-BE49-F238E27FC236}">
                <a16:creationId xmlns:a16="http://schemas.microsoft.com/office/drawing/2014/main" id="{AAFC43B8-37B5-C9E4-636A-A901FAA02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799" y="1862417"/>
            <a:ext cx="1653989" cy="1564341"/>
          </a:xfrm>
          <a:prstGeom prst="rect">
            <a:avLst/>
          </a:prstGeom>
        </p:spPr>
      </p:pic>
      <p:pic>
        <p:nvPicPr>
          <p:cNvPr id="11" name="Grafik 10" descr="Ein Bild, das Gelände, Blatt, Grün, Pflanze enthält.&#10;&#10;KI-generierte Inhalte können fehlerhaft sein.">
            <a:extLst>
              <a:ext uri="{FF2B5EF4-FFF2-40B4-BE49-F238E27FC236}">
                <a16:creationId xmlns:a16="http://schemas.microsoft.com/office/drawing/2014/main" id="{B57EA472-71D8-ED68-6314-5F7A16CCA6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6183" y="1873623"/>
            <a:ext cx="1553136" cy="1564342"/>
          </a:xfrm>
          <a:prstGeom prst="rect">
            <a:avLst/>
          </a:prstGeom>
        </p:spPr>
      </p:pic>
      <p:pic>
        <p:nvPicPr>
          <p:cNvPr id="12" name="Grafik 11" descr="Ein Bild, das Pilz, Pflan­zen­pa­tho­lo­gie, Mehltau, Gelände enthält.&#10;&#10;KI-generierte Inhalte können fehlerhaft sein.">
            <a:extLst>
              <a:ext uri="{FF2B5EF4-FFF2-40B4-BE49-F238E27FC236}">
                <a16:creationId xmlns:a16="http://schemas.microsoft.com/office/drawing/2014/main" id="{A0242F11-01D9-198B-3F37-C620E530B7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682" y="3733800"/>
            <a:ext cx="1553136" cy="1564342"/>
          </a:xfrm>
          <a:prstGeom prst="rect">
            <a:avLst/>
          </a:prstGeom>
        </p:spPr>
      </p:pic>
      <p:pic>
        <p:nvPicPr>
          <p:cNvPr id="13" name="Grafik 12" descr="Ein Bild, das Pflan­zen­pa­tho­lo­gie, Blatt, Grün, Pflanze enthält.&#10;&#10;KI-generierte Inhalte können fehlerhaft sein.">
            <a:extLst>
              <a:ext uri="{FF2B5EF4-FFF2-40B4-BE49-F238E27FC236}">
                <a16:creationId xmlns:a16="http://schemas.microsoft.com/office/drawing/2014/main" id="{7EFF6AF4-08BD-CCC1-015E-2AA145CA07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0241" y="3733800"/>
            <a:ext cx="1564342" cy="1564342"/>
          </a:xfrm>
          <a:prstGeom prst="rect">
            <a:avLst/>
          </a:prstGeom>
        </p:spPr>
      </p:pic>
      <p:pic>
        <p:nvPicPr>
          <p:cNvPr id="14" name="Grafik 13" descr="Ein Bild, das Pflan­zen­pa­tho­lo­gie, Mehltau, Gelände, Blatt enthält.&#10;&#10;KI-generierte Inhalte können fehlerhaft sein.">
            <a:extLst>
              <a:ext uri="{FF2B5EF4-FFF2-40B4-BE49-F238E27FC236}">
                <a16:creationId xmlns:a16="http://schemas.microsoft.com/office/drawing/2014/main" id="{80EC193D-2762-3C8A-C277-4456F8C8D1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1417" y="3733800"/>
            <a:ext cx="1597959" cy="1564341"/>
          </a:xfrm>
          <a:prstGeom prst="rect">
            <a:avLst/>
          </a:prstGeom>
        </p:spPr>
      </p:pic>
      <p:pic>
        <p:nvPicPr>
          <p:cNvPr id="15" name="Grafik 14" descr="Ein Bild, das Kraut, Gelände, Blatt, Grün enthält.&#10;&#10;KI-generierte Inhalte können fehlerhaft sein.">
            <a:extLst>
              <a:ext uri="{FF2B5EF4-FFF2-40B4-BE49-F238E27FC236}">
                <a16:creationId xmlns:a16="http://schemas.microsoft.com/office/drawing/2014/main" id="{DA8E5DB6-6FA9-60F1-91ED-5F5B9D42AA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6210" y="3733799"/>
            <a:ext cx="1631578" cy="1564343"/>
          </a:xfrm>
          <a:prstGeom prst="rect">
            <a:avLst/>
          </a:prstGeom>
        </p:spPr>
      </p:pic>
      <p:pic>
        <p:nvPicPr>
          <p:cNvPr id="16" name="Grafik 15" descr="Ein Bild, das Blatt, Grün, Pflanze, Gelände enthält.&#10;&#10;KI-generierte Inhalte können fehlerhaft sein.">
            <a:extLst>
              <a:ext uri="{FF2B5EF4-FFF2-40B4-BE49-F238E27FC236}">
                <a16:creationId xmlns:a16="http://schemas.microsoft.com/office/drawing/2014/main" id="{B7D1F11A-8B0C-B76D-D3D9-137ADFA33B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6181" y="3730696"/>
            <a:ext cx="1564860" cy="1567445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A5D17416-BBE7-0357-322E-9827C5551FF6}"/>
              </a:ext>
            </a:extLst>
          </p:cNvPr>
          <p:cNvSpPr txBox="1"/>
          <p:nvPr/>
        </p:nvSpPr>
        <p:spPr>
          <a:xfrm>
            <a:off x="753207" y="3426068"/>
            <a:ext cx="173794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Bacterial_spot</a:t>
            </a:r>
            <a:endParaRPr lang="de-DE" sz="110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081FF5E-BF72-8A5A-B71E-3E40BE10C5FB}"/>
              </a:ext>
            </a:extLst>
          </p:cNvPr>
          <p:cNvSpPr txBox="1"/>
          <p:nvPr/>
        </p:nvSpPr>
        <p:spPr>
          <a:xfrm>
            <a:off x="2968868" y="3426067"/>
            <a:ext cx="173794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Early_blight</a:t>
            </a:r>
            <a:endParaRPr lang="de-DE" err="1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FA20B95-A5D8-8485-5BE4-C2CDD7D970E0}"/>
              </a:ext>
            </a:extLst>
          </p:cNvPr>
          <p:cNvSpPr txBox="1"/>
          <p:nvPr/>
        </p:nvSpPr>
        <p:spPr>
          <a:xfrm>
            <a:off x="5231421" y="3426066"/>
            <a:ext cx="173794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healthy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4C06989-695B-4DD0-2E78-5C013516A233}"/>
              </a:ext>
            </a:extLst>
          </p:cNvPr>
          <p:cNvSpPr txBox="1"/>
          <p:nvPr/>
        </p:nvSpPr>
        <p:spPr>
          <a:xfrm>
            <a:off x="7505698" y="3426066"/>
            <a:ext cx="173794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Late_blight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FE33FBA-F41B-C463-3CF3-785F6BF64875}"/>
              </a:ext>
            </a:extLst>
          </p:cNvPr>
          <p:cNvSpPr txBox="1"/>
          <p:nvPr/>
        </p:nvSpPr>
        <p:spPr>
          <a:xfrm>
            <a:off x="9697913" y="3426066"/>
            <a:ext cx="173794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Leaf_Mold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26E1E7D-E846-0728-E101-D06BBBE6CB7D}"/>
              </a:ext>
            </a:extLst>
          </p:cNvPr>
          <p:cNvSpPr txBox="1"/>
          <p:nvPr/>
        </p:nvSpPr>
        <p:spPr>
          <a:xfrm>
            <a:off x="753206" y="5301759"/>
            <a:ext cx="173794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Septorial_leaf_spot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D97726D-FED5-7938-3EFD-C06FC00BF956}"/>
              </a:ext>
            </a:extLst>
          </p:cNvPr>
          <p:cNvSpPr txBox="1"/>
          <p:nvPr/>
        </p:nvSpPr>
        <p:spPr>
          <a:xfrm>
            <a:off x="2968867" y="5301758"/>
            <a:ext cx="173794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Spider_mites</a:t>
            </a:r>
            <a:r>
              <a:rPr lang="de-DE" sz="1100"/>
              <a:t> Two-</a:t>
            </a:r>
            <a:r>
              <a:rPr lang="de-DE" sz="1100" err="1"/>
              <a:t>spotted_spider_mite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942187A-111C-2978-59A4-6C428FFBB585}"/>
              </a:ext>
            </a:extLst>
          </p:cNvPr>
          <p:cNvSpPr txBox="1"/>
          <p:nvPr/>
        </p:nvSpPr>
        <p:spPr>
          <a:xfrm>
            <a:off x="5231420" y="5301758"/>
            <a:ext cx="173794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Target_Spot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CD40AC0-0430-7697-1575-7595B9C4CFD1}"/>
              </a:ext>
            </a:extLst>
          </p:cNvPr>
          <p:cNvSpPr txBox="1"/>
          <p:nvPr/>
        </p:nvSpPr>
        <p:spPr>
          <a:xfrm>
            <a:off x="7458806" y="5301758"/>
            <a:ext cx="184345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Tomato_mosaic_virus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BF02B0D-E5F9-F573-DF53-D78C43F5F5A5}"/>
              </a:ext>
            </a:extLst>
          </p:cNvPr>
          <p:cNvSpPr txBox="1"/>
          <p:nvPr/>
        </p:nvSpPr>
        <p:spPr>
          <a:xfrm>
            <a:off x="9651021" y="5301758"/>
            <a:ext cx="184345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Tomato___</a:t>
            </a:r>
            <a:r>
              <a:rPr lang="de-DE" sz="1100" err="1"/>
              <a:t>Tomato_Yellow_Leaf_Curl_Virus</a:t>
            </a:r>
          </a:p>
        </p:txBody>
      </p:sp>
    </p:spTree>
    <p:extLst>
      <p:ext uri="{BB962C8B-B14F-4D97-AF65-F5344CB8AC3E}">
        <p14:creationId xmlns:p14="http://schemas.microsoft.com/office/powerpoint/2010/main" val="209244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5EA6-5929-0A61-6EBD-516C6F2D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925C6-42AA-7E4B-245C-C17FEE4B4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Recap Station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CC2CA25-7675-5475-F56A-3850471673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Ergebnisse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CC1E35A8-22CA-9809-01C9-3F9225C7CCF2}"/>
              </a:ext>
            </a:extLst>
          </p:cNvPr>
          <p:cNvCxnSpPr>
            <a:cxnSpLocks/>
          </p:cNvCxnSpPr>
          <p:nvPr/>
        </p:nvCxnSpPr>
        <p:spPr>
          <a:xfrm>
            <a:off x="776654" y="3463725"/>
            <a:ext cx="1063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67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64A31-252E-784A-BC1C-96578883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C19115-BD33-9036-20AB-01C327D18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Recap Station 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88C0E47-8C10-AC3A-AEC1-F803E6F5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EC594C-83BE-5103-689D-AE796C0E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116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3F824-EAFD-48EF-97E1-71FACC797DE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FFC1B3D5-06C0-CB82-5394-E7535F7A7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ADC606B-9728-F7C0-A20C-B0E726592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685171"/>
              </p:ext>
            </p:extLst>
          </p:nvPr>
        </p:nvGraphicFramePr>
        <p:xfrm>
          <a:off x="546052" y="2225525"/>
          <a:ext cx="812800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148047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00402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2000"/>
                        <a:t>Schlechtestes Modell - 5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Bestes Modell - 1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40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 count: 2.803.146</a:t>
                      </a:r>
                    </a:p>
                    <a:p>
                      <a:r>
                        <a:rPr lang="en-US" dirty="0"/>
                        <a:t>Conv layer count: 6</a:t>
                      </a:r>
                    </a:p>
                    <a:p>
                      <a:r>
                        <a:rPr lang="en-US" dirty="0"/>
                        <a:t>Dense layer count: 2</a:t>
                      </a:r>
                    </a:p>
                    <a:p>
                      <a:r>
                        <a:rPr lang="en-US" dirty="0"/>
                        <a:t>Class count: 10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Accuracy: 0.2841</a:t>
                      </a:r>
                    </a:p>
                    <a:p>
                      <a:r>
                        <a:rPr lang="en-US" dirty="0"/>
                        <a:t>Precision: 0.0284</a:t>
                      </a:r>
                    </a:p>
                    <a:p>
                      <a:r>
                        <a:rPr lang="en-US" dirty="0"/>
                        <a:t>Recall: 0.1000</a:t>
                      </a:r>
                    </a:p>
                    <a:p>
                      <a:r>
                        <a:rPr lang="en-US" dirty="0"/>
                        <a:t>F1 Score: 0.0443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 count: 11.011.402</a:t>
                      </a:r>
                    </a:p>
                    <a:p>
                      <a:r>
                        <a:rPr lang="en-US" dirty="0"/>
                        <a:t>Conv layer count: 5</a:t>
                      </a:r>
                    </a:p>
                    <a:p>
                      <a:r>
                        <a:rPr lang="en-US" dirty="0"/>
                        <a:t>Dense layer count: 2</a:t>
                      </a:r>
                    </a:p>
                    <a:p>
                      <a:r>
                        <a:rPr lang="en-US" dirty="0"/>
                        <a:t>Class count: 10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Accuracy: 0.9115</a:t>
                      </a:r>
                    </a:p>
                    <a:p>
                      <a:r>
                        <a:rPr lang="en-US" dirty="0"/>
                        <a:t>Precision: 0.8926</a:t>
                      </a:r>
                    </a:p>
                    <a:p>
                      <a:r>
                        <a:rPr lang="en-US" dirty="0"/>
                        <a:t>Recall: 0.8794</a:t>
                      </a:r>
                    </a:p>
                    <a:p>
                      <a:r>
                        <a:rPr lang="en-US" dirty="0"/>
                        <a:t>F1 Score: 0.8847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09483"/>
                  </a:ext>
                </a:extLst>
              </a:tr>
            </a:tbl>
          </a:graphicData>
        </a:graphic>
      </p:graphicFrame>
      <p:pic>
        <p:nvPicPr>
          <p:cNvPr id="22" name="Grafik 21">
            <a:extLst>
              <a:ext uri="{FF2B5EF4-FFF2-40B4-BE49-F238E27FC236}">
                <a16:creationId xmlns:a16="http://schemas.microsoft.com/office/drawing/2014/main" id="{0248C238-DC1B-E6F4-B591-A03CCF92E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105" y="1260158"/>
            <a:ext cx="2454223" cy="4761844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6A07F04F-7EA4-F53F-AA34-6886D82DB100}"/>
              </a:ext>
            </a:extLst>
          </p:cNvPr>
          <p:cNvSpPr txBox="1"/>
          <p:nvPr/>
        </p:nvSpPr>
        <p:spPr>
          <a:xfrm>
            <a:off x="9211056" y="6022848"/>
            <a:ext cx="2468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/>
              <a:t>Modell 1 - Aufbau</a:t>
            </a:r>
          </a:p>
        </p:txBody>
      </p:sp>
    </p:spTree>
    <p:extLst>
      <p:ext uri="{BB962C8B-B14F-4D97-AF65-F5344CB8AC3E}">
        <p14:creationId xmlns:p14="http://schemas.microsoft.com/office/powerpoint/2010/main" val="2047829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05B9-15D9-9C95-819F-A343963FE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18F2EAE6-1978-D077-4713-FF5A8AE31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522" y="1405038"/>
            <a:ext cx="6618562" cy="259069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867AF0F-8013-F36B-2513-F662A224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Recap Station 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841633-8CC6-44E2-E384-2DEE1243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92E369-2BE8-97BF-F2D8-8E77BE80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3F824-EAFD-48EF-97E1-71FACC797DE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6FC0FF85-B83B-5D03-7910-E24A27063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ABA9A9C-068F-6114-9ED2-A48482A7B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084" y="1714606"/>
            <a:ext cx="2143424" cy="60968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C66C833-B0AD-BF38-8984-FB7E6C16B0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0522" y="3692274"/>
            <a:ext cx="6584681" cy="25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2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674C1-1130-7297-CFD9-3292B64C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CE5E6F-13FB-612D-1514-22B63D16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Recap Station 1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9A8D6AF-9676-247E-DA25-725B8AC5B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631" y="1283509"/>
            <a:ext cx="6886136" cy="2702809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F8AD1B-32A4-AEF3-DDA0-4D8C0C0F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ECF7FA-D721-2CE2-54B0-CA8463D2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3F824-EAFD-48EF-97E1-71FACC797DE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AEA88D5C-4627-8F62-FC54-55CCDE4AB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AB4B9A2-6F98-354A-DDE0-32A5C7F2C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6242" y="1702647"/>
            <a:ext cx="2086266" cy="60968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6947851-A941-A50D-5A66-26AF4D64E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768" y="3767482"/>
            <a:ext cx="6707474" cy="263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4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3B1C-D845-408B-9E72-15F1944F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666E0-8509-4305-D8AC-0ABA5391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Recap Station 1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0F8436-BB3F-F7C6-A29B-47FE26397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27" y="1688850"/>
            <a:ext cx="5606606" cy="46675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0EE833C-71CE-B8AC-0433-8889A9D09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898" y="1688850"/>
            <a:ext cx="5606606" cy="466750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8BAF62-0476-C532-837A-197BDD39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FF3E05-936C-68EC-176C-09A614AE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3F824-EAFD-48EF-97E1-71FACC797DE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93DF8743-B221-163F-E53D-5C2FF2FC8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33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B5F8-FAA2-3672-BF3B-68D11292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55A001-8144-E29A-B1CC-F8A73735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Recap Station 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DEFCD8-528C-02BB-7762-04E37C7B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2EEA4C-3C12-833E-F56C-BBC8FDCA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3F824-EAFD-48EF-97E1-71FACC797DE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BB6905B7-553B-5A2D-9E32-E5A7C58F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F8759E7E-4579-61CB-404A-0D3D63019B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6861459"/>
              </p:ext>
            </p:extLst>
          </p:nvPr>
        </p:nvGraphicFramePr>
        <p:xfrm>
          <a:off x="838200" y="1693999"/>
          <a:ext cx="10111451" cy="4228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4337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6008-6502-7703-C891-F2FB957E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7F808-5B12-119B-25B7-95530B6F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Recap Station 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989AB4-D7D7-3FDC-7F20-AA9A8B11F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260095-C102-7B2D-3A5B-E8828EA73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3F824-EAFD-48EF-97E1-71FACC797DE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AA31F4F7-E9FD-B1A5-13E5-E98F0F293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411425A8-24CB-AB0F-3C14-3248E09D69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9176566"/>
              </p:ext>
            </p:extLst>
          </p:nvPr>
        </p:nvGraphicFramePr>
        <p:xfrm>
          <a:off x="838200" y="1693999"/>
          <a:ext cx="10111451" cy="4228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4257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A39B3-5BA1-1791-0B37-416179F7C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02E95-0543-7B1C-BA6B-FF950D3B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Transfer Learning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D59558A-2678-2E84-23D2-F6259FD3F4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Station 2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8839C0E-48E3-D00A-F490-9CAAFD4F9BCC}"/>
              </a:ext>
            </a:extLst>
          </p:cNvPr>
          <p:cNvCxnSpPr>
            <a:cxnSpLocks/>
          </p:cNvCxnSpPr>
          <p:nvPr/>
        </p:nvCxnSpPr>
        <p:spPr>
          <a:xfrm>
            <a:off x="776654" y="3429000"/>
            <a:ext cx="1063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606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653DF-4C54-6EDC-82D5-A096A2F7A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FDC37B-B46D-F146-C576-1C0586D1B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Im Vergleich stehen </a:t>
            </a:r>
            <a:r>
              <a:rPr lang="de-DE" b="1"/>
              <a:t>ResNet50 </a:t>
            </a:r>
            <a:r>
              <a:rPr lang="de-DE"/>
              <a:t>und </a:t>
            </a:r>
            <a:r>
              <a:rPr lang="de-DE" b="1"/>
              <a:t>VGG16</a:t>
            </a:r>
          </a:p>
          <a:p>
            <a:r>
              <a:rPr lang="de-DE"/>
              <a:t>Vortrainierte Modell auf Basis von </a:t>
            </a:r>
            <a:r>
              <a:rPr lang="de-DE" i="1" err="1"/>
              <a:t>ImageNet</a:t>
            </a:r>
            <a:endParaRPr lang="de-DE"/>
          </a:p>
          <a:p>
            <a:r>
              <a:rPr lang="de-DE"/>
              <a:t>Ersatz der bestehenden Dense-Layer durch eigene Klassifikation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8C706F-C199-1004-6EA4-C307342C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88879F-98B1-FA84-FA7A-BA92E26F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14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566B8186-51A3-B3C8-F5CB-B2D4DB508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EBCA453-4D3C-214B-5F49-5AC4D3F42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322" b="49838"/>
          <a:stretch>
            <a:fillRect/>
          </a:stretch>
        </p:blipFill>
        <p:spPr>
          <a:xfrm>
            <a:off x="413976" y="3547262"/>
            <a:ext cx="11364047" cy="68317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7C3A416-4740-BDD5-8F4D-6D6BD26D04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04"/>
          <a:stretch>
            <a:fillRect/>
          </a:stretch>
        </p:blipFill>
        <p:spPr>
          <a:xfrm>
            <a:off x="413975" y="4435202"/>
            <a:ext cx="11364047" cy="17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02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E7DF-7550-97B0-52AD-168CD117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F0AA90-FE8D-D969-C807-769B79C4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Modelle - Besonderheiten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61CC76-F39B-CBB9-5304-0D9C0927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173B7A-3609-8CCB-8CDB-974C97F4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15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9C6ADF09-C5F8-0C58-FA79-38E94023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114AD589-639C-957B-6757-E33528A48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633142"/>
              </p:ext>
            </p:extLst>
          </p:nvPr>
        </p:nvGraphicFramePr>
        <p:xfrm>
          <a:off x="2032000" y="1862666"/>
          <a:ext cx="8128000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355448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86308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err="1"/>
                        <a:t>ResNet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VGG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85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de-DE"/>
                        <a:t>Nutzung von Skip-Connections (Residual Block)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de-DE"/>
                        <a:t>Parameterersparnis durch Bottleneck-Design (1x1 </a:t>
                      </a:r>
                      <a:r>
                        <a:rPr lang="de-DE" err="1"/>
                        <a:t>Convolution</a:t>
                      </a:r>
                      <a:r>
                        <a:rPr lang="de-DE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de-DE"/>
                        <a:t>Bild wird Schrittweise reduziert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de-DE"/>
                        <a:t>Wiederholtes Pooling bis zum Ergebnis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de-DE"/>
                        <a:t>Einfache sequentielle Blöcke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052557"/>
                  </a:ext>
                </a:extLst>
              </a:tr>
            </a:tbl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C324E46B-09F3-902D-4CBD-92BC73D17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95382"/>
            <a:ext cx="4064000" cy="223043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20DC473-6284-C63E-3C5A-72171A3A5D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444" b="14971"/>
          <a:stretch>
            <a:fillRect/>
          </a:stretch>
        </p:blipFill>
        <p:spPr>
          <a:xfrm>
            <a:off x="2077904" y="4200524"/>
            <a:ext cx="404667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31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8F4ABF-7C57-3EC4-227A-09DE8D7D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Trainingsverhalten - </a:t>
            </a:r>
            <a:r>
              <a:rPr lang="de-DE" err="1"/>
              <a:t>ResNet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922B07-DA7F-A4FE-2A17-0F8F17DB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6500D8-6296-CCB3-B02F-42965661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16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831187C-6CD3-533E-8C85-8FC56CB2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833" y="1351851"/>
            <a:ext cx="6552000" cy="249686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D71D7F9-7106-D12D-8BB3-37356B692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962" y="1586780"/>
            <a:ext cx="2241970" cy="576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7EF0711-4EA4-A5FF-A6C7-2A8E3F68E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0833" y="3870884"/>
            <a:ext cx="6552000" cy="251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88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C40A-1BF2-FE0B-588D-0F5E17C2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1770F1-9F73-3310-3006-59EF284F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Trainingsverhalten - VGG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759F66-085D-5087-E884-76B1249C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93A20F-88AA-8243-1997-E18373E4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17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B651FEA-6B3A-FA46-8409-DC4600522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218" y="1293559"/>
            <a:ext cx="6552000" cy="255551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563AB34-6A04-EE6F-91B3-614AB5066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218" y="3849411"/>
            <a:ext cx="6552000" cy="257316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58D5AFD-5FE2-84C4-1279-A3E3BD34E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649" y="1395325"/>
            <a:ext cx="2191056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59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F9E36-3E84-DA6E-44A3-C47F3232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50EDA-1BB1-DD23-E995-400915F2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Ergebnisse</a:t>
            </a: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71F2101D-FDE5-DB27-09D2-8C62C123B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502631"/>
              </p:ext>
            </p:extLst>
          </p:nvPr>
        </p:nvGraphicFramePr>
        <p:xfrm>
          <a:off x="2352962" y="1802780"/>
          <a:ext cx="7498089" cy="3256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130">
                  <a:extLst>
                    <a:ext uri="{9D8B030D-6E8A-4147-A177-3AD203B41FA5}">
                      <a16:colId xmlns:a16="http://schemas.microsoft.com/office/drawing/2014/main" val="3238971344"/>
                    </a:ext>
                  </a:extLst>
                </a:gridCol>
                <a:gridCol w="2733260">
                  <a:extLst>
                    <a:ext uri="{9D8B030D-6E8A-4147-A177-3AD203B41FA5}">
                      <a16:colId xmlns:a16="http://schemas.microsoft.com/office/drawing/2014/main" val="2385798097"/>
                    </a:ext>
                  </a:extLst>
                </a:gridCol>
                <a:gridCol w="2445699">
                  <a:extLst>
                    <a:ext uri="{9D8B030D-6E8A-4147-A177-3AD203B41FA5}">
                      <a16:colId xmlns:a16="http://schemas.microsoft.com/office/drawing/2014/main" val="1400655796"/>
                    </a:ext>
                  </a:extLst>
                </a:gridCol>
              </a:tblGrid>
              <a:tr h="651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Metrik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VGG16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126865"/>
                  </a:ext>
                </a:extLst>
              </a:tr>
              <a:tr h="651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err="1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0"/>
                        <a:t>96,98 %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94,81 %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724986"/>
                  </a:ext>
                </a:extLst>
              </a:tr>
              <a:tr h="651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0"/>
                        <a:t>96,17 %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93,68 %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604479"/>
                  </a:ext>
                </a:extLst>
              </a:tr>
              <a:tr h="651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0"/>
                        <a:t>96,43 %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93,22 %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626855"/>
                  </a:ext>
                </a:extLst>
              </a:tr>
              <a:tr h="651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0"/>
                        <a:t>96,24 %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93,38 %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336895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A65F95-C724-BBF1-0B9E-66830D08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66903-EAA9-1DAF-1C01-BE233816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18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9EF3E475-5E3B-85CA-484F-15CD2B43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45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B322-58D3-C200-DCF5-2E1A06ED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23C5EF6F-278B-822D-0D19-BD5424177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088" y="1569105"/>
            <a:ext cx="5895378" cy="4898370"/>
          </a:xfrm>
          <a:prstGeom prst="rect">
            <a:avLst/>
          </a:prstGeom>
        </p:spPr>
      </p:pic>
      <p:pic>
        <p:nvPicPr>
          <p:cNvPr id="10" name="Grafik 9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D0710C6B-880C-20C8-594E-AE04F240B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91" y="1530762"/>
            <a:ext cx="5890411" cy="489836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FEB5528-6FE2-648D-71A7-6612462C9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Ergebnisse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30F915-69FE-A913-0649-A9D4E9B1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84B4AF-688A-093F-C3F4-8605E6EE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19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F850BC86-D109-9A52-BAC3-02CE0165A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06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41F6-321B-C9B9-3668-2BAF495A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660204-04F2-F95F-8C11-B547B39D5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Evaluation und Fazit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023ED5-C560-D6C3-136D-8CCF7634A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Station 2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2185553-7126-4EE6-66B8-ECC3B7D769BA}"/>
              </a:ext>
            </a:extLst>
          </p:cNvPr>
          <p:cNvCxnSpPr>
            <a:cxnSpLocks/>
          </p:cNvCxnSpPr>
          <p:nvPr/>
        </p:nvCxnSpPr>
        <p:spPr>
          <a:xfrm>
            <a:off x="776654" y="3463725"/>
            <a:ext cx="1063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888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47F8-56A4-A89D-9B12-DFE0391B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64A57-A6F0-FF78-8D8D-596F45D4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Evaluation</a:t>
            </a: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E90D3756-BCEC-0516-DD80-C130620993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6299252"/>
              </p:ext>
            </p:extLst>
          </p:nvPr>
        </p:nvGraphicFramePr>
        <p:xfrm>
          <a:off x="839083" y="1556164"/>
          <a:ext cx="10515600" cy="246888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051242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436803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29679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Kategorie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VGG16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621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0"/>
                        <a:t>Stärkste Klasse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Tomato Mosaic Virus (</a:t>
                      </a:r>
                      <a:r>
                        <a:rPr lang="de-DE" b="0"/>
                        <a:t>100,00 %</a:t>
                      </a:r>
                      <a:r>
                        <a:rPr lang="de-DE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Tomato Yellow Leaf Curl Virus (</a:t>
                      </a:r>
                      <a:r>
                        <a:rPr lang="de-DE" b="0"/>
                        <a:t>99,16 %</a:t>
                      </a:r>
                      <a:r>
                        <a:rPr lang="de-DE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84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0"/>
                        <a:t>Stärkste Klasse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err="1"/>
                        <a:t>Bacterial</a:t>
                      </a:r>
                      <a:r>
                        <a:rPr lang="de-DE"/>
                        <a:t> Spot (</a:t>
                      </a:r>
                      <a:r>
                        <a:rPr lang="de-DE" b="0"/>
                        <a:t>99,53 %</a:t>
                      </a:r>
                      <a:r>
                        <a:rPr lang="de-DE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Septoria Leaf Spot (97,75 %)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968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0"/>
                        <a:t>Stärkste Klasse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Tomato Late Blight (</a:t>
                      </a:r>
                      <a:r>
                        <a:rPr lang="de-DE" b="0"/>
                        <a:t>98,69 %</a:t>
                      </a:r>
                      <a:r>
                        <a:rPr lang="de-DE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Bacterial Spot (97,18 %)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399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0"/>
                        <a:t>Schwächste Klasse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Target Spot (</a:t>
                      </a:r>
                      <a:r>
                        <a:rPr lang="de-DE" b="0"/>
                        <a:t>88,30 %</a:t>
                      </a:r>
                      <a:r>
                        <a:rPr lang="de-DE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Target Spot (</a:t>
                      </a:r>
                      <a:r>
                        <a:rPr lang="de-DE" b="0"/>
                        <a:t>80,85 %</a:t>
                      </a:r>
                      <a:r>
                        <a:rPr lang="de-DE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084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Gesamt-</a:t>
                      </a:r>
                      <a:r>
                        <a:rPr lang="de-DE" b="1" err="1"/>
                        <a:t>Accuracy</a:t>
                      </a:r>
                      <a:endParaRPr lang="de-DE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96,98 %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94,81 %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158425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0DF5F6-C76A-7CF6-6966-1E877DFE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5EDC69-7704-BCB9-A1AD-BB58B8AF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21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0AC5C7FC-E29B-8B44-AC16-928954B9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pic>
        <p:nvPicPr>
          <p:cNvPr id="10" name="Grafik 9" descr="Ein Bild, das Pflan­zen­pa­tho­lo­gie, Mehltau, Gelände, Blatt enthält.&#10;&#10;KI-generierte Inhalte können fehlerhaft sein.">
            <a:extLst>
              <a:ext uri="{FF2B5EF4-FFF2-40B4-BE49-F238E27FC236}">
                <a16:creationId xmlns:a16="http://schemas.microsoft.com/office/drawing/2014/main" id="{9687D3F2-30FA-0E11-5D58-31B05575D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200" y="4274931"/>
            <a:ext cx="1597959" cy="1564341"/>
          </a:xfrm>
          <a:prstGeom prst="rect">
            <a:avLst/>
          </a:prstGeom>
        </p:spPr>
      </p:pic>
      <p:pic>
        <p:nvPicPr>
          <p:cNvPr id="12" name="Grafik 11" descr="Ein Bild, das Kraut, Gelände, Blatt, Grün enthält.&#10;&#10;KI-generierte Inhalte können fehlerhaft sein.">
            <a:extLst>
              <a:ext uri="{FF2B5EF4-FFF2-40B4-BE49-F238E27FC236}">
                <a16:creationId xmlns:a16="http://schemas.microsoft.com/office/drawing/2014/main" id="{964DCFC5-B7ED-02B4-6FC7-3D5FC24CA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210" y="4274930"/>
            <a:ext cx="1631578" cy="1564343"/>
          </a:xfrm>
          <a:prstGeom prst="rect">
            <a:avLst/>
          </a:prstGeom>
        </p:spPr>
      </p:pic>
      <p:pic>
        <p:nvPicPr>
          <p:cNvPr id="14" name="Grafik 13" descr="Ein Bild, das Blatt, Grün, Pflanze, Gelände enthält.&#10;&#10;KI-generierte Inhalte können fehlerhaft sein.">
            <a:extLst>
              <a:ext uri="{FF2B5EF4-FFF2-40B4-BE49-F238E27FC236}">
                <a16:creationId xmlns:a16="http://schemas.microsoft.com/office/drawing/2014/main" id="{69DE74D7-BF0F-3B2C-BC68-2FB10FF30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616" y="4271827"/>
            <a:ext cx="1564860" cy="1567445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FF7D1B72-C125-9112-ABEB-842B76D8FF01}"/>
              </a:ext>
            </a:extLst>
          </p:cNvPr>
          <p:cNvSpPr txBox="1"/>
          <p:nvPr/>
        </p:nvSpPr>
        <p:spPr>
          <a:xfrm>
            <a:off x="2879160" y="5842889"/>
            <a:ext cx="173794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Target Spot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D50AFAA-2BB6-B88E-78F3-CB0C065D46CC}"/>
              </a:ext>
            </a:extLst>
          </p:cNvPr>
          <p:cNvSpPr txBox="1"/>
          <p:nvPr/>
        </p:nvSpPr>
        <p:spPr>
          <a:xfrm>
            <a:off x="5172806" y="5842889"/>
            <a:ext cx="184345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 err="1"/>
              <a:t>Mosaic</a:t>
            </a:r>
            <a:r>
              <a:rPr lang="de-DE" sz="1100"/>
              <a:t> Virus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915E1ED-0CE0-FDA4-766B-6A9ACA370637}"/>
              </a:ext>
            </a:extLst>
          </p:cNvPr>
          <p:cNvSpPr txBox="1"/>
          <p:nvPr/>
        </p:nvSpPr>
        <p:spPr>
          <a:xfrm>
            <a:off x="7486499" y="5842889"/>
            <a:ext cx="184345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100"/>
              <a:t>Yellow Leaf Curl Virus</a:t>
            </a:r>
          </a:p>
        </p:txBody>
      </p:sp>
    </p:spTree>
    <p:extLst>
      <p:ext uri="{BB962C8B-B14F-4D97-AF65-F5344CB8AC3E}">
        <p14:creationId xmlns:p14="http://schemas.microsoft.com/office/powerpoint/2010/main" val="3595775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47E9-46F7-C50B-64CF-6DC72782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CC802-6305-E498-A027-9D5025B4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Evaluation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9A28D7-C44F-8AB7-2097-858789FF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2EE51-2CE7-E147-259A-DB2D03E0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22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1A4CA5EC-571B-7349-3F4D-4840C48F5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DD6D1608-375B-D82C-3BC6-971026EF5A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373274"/>
              </p:ext>
            </p:extLst>
          </p:nvPr>
        </p:nvGraphicFramePr>
        <p:xfrm>
          <a:off x="838200" y="1825625"/>
          <a:ext cx="10515600" cy="1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926320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763967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1">
                          <a:solidFill>
                            <a:schemeClr val="bg1"/>
                          </a:solidFill>
                          <a:effectLst/>
                        </a:rPr>
                        <a:t>Modell</a:t>
                      </a:r>
                      <a:endParaRPr lang="en-US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1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  <a:endParaRPr lang="en-US" b="1" i="0">
                        <a:solidFill>
                          <a:schemeClr val="bg1"/>
                        </a:solidFill>
                        <a:effectLst/>
                        <a:latin typeface="Apto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44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Bestes CNN (Station 1)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91,15 %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789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VGG16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94,81 %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54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ResNet50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96,98 %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724476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A251271B-168D-1218-B9BF-189C1DF8A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829891"/>
              </p:ext>
            </p:extLst>
          </p:nvPr>
        </p:nvGraphicFramePr>
        <p:xfrm>
          <a:off x="836930" y="3705510"/>
          <a:ext cx="10528300" cy="109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150">
                  <a:extLst>
                    <a:ext uri="{9D8B030D-6E8A-4147-A177-3AD203B41FA5}">
                      <a16:colId xmlns:a16="http://schemas.microsoft.com/office/drawing/2014/main" val="738348244"/>
                    </a:ext>
                  </a:extLst>
                </a:gridCol>
                <a:gridCol w="5264150">
                  <a:extLst>
                    <a:ext uri="{9D8B030D-6E8A-4147-A177-3AD203B41FA5}">
                      <a16:colId xmlns:a16="http://schemas.microsoft.com/office/drawing/2014/main" val="424643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1">
                          <a:solidFill>
                            <a:schemeClr val="bg1"/>
                          </a:solidFill>
                          <a:effectLst/>
                        </a:rPr>
                        <a:t>Verbesserung gegenüber Station 1</a:t>
                      </a:r>
                      <a:endParaRPr lang="en-US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1">
                          <a:solidFill>
                            <a:schemeClr val="bg1"/>
                          </a:solidFill>
                          <a:effectLst/>
                        </a:rPr>
                        <a:t>Wert</a:t>
                      </a:r>
                      <a:endParaRPr lang="en-US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973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VGG16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+3,66 %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700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ResNet50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2175"/>
                        </a:lnSpc>
                        <a:buNone/>
                      </a:pPr>
                      <a:r>
                        <a:rPr lang="de-DE" sz="1800" b="0">
                          <a:solidFill>
                            <a:srgbClr val="000000"/>
                          </a:solidFill>
                          <a:effectLst/>
                        </a:rPr>
                        <a:t>+5,83 %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83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421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7305-6848-DCE4-8489-F0496FDA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60CAF-BCE5-548B-6646-91ED1ACF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Fazit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90035A-37EC-9327-1099-575081FC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6EC0AB-89F9-2D47-C529-8934A758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23</a:t>
            </a:fld>
            <a:endParaRPr lang="de-DE"/>
          </a:p>
        </p:txBody>
      </p:sp>
      <p:pic>
        <p:nvPicPr>
          <p:cNvPr id="6" name="Grafik 5" descr="Die Fachhochschule Bielefeld wird zur Hochschule Bielefeld.">
            <a:extLst>
              <a:ext uri="{FF2B5EF4-FFF2-40B4-BE49-F238E27FC236}">
                <a16:creationId xmlns:a16="http://schemas.microsoft.com/office/drawing/2014/main" id="{59DAF9DD-11CF-7D80-B11B-24399B91C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20" y="0"/>
            <a:ext cx="2240280" cy="1260158"/>
          </a:xfrm>
          <a:prstGeom prst="rect">
            <a:avLst/>
          </a:prstGeom>
        </p:spPr>
      </p:pic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E3F3C2D-E133-2A7D-8439-12DACBE2C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3947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Transfer Learning verbessert deutlich die Klassifikat</a:t>
            </a:r>
            <a:r>
              <a:rPr lang="de-DE">
                <a:solidFill>
                  <a:srgbClr val="000000"/>
                </a:solidFill>
                <a:latin typeface="Aptos"/>
              </a:rPr>
              <a:t>ion</a:t>
            </a:r>
          </a:p>
          <a:p>
            <a:r>
              <a:rPr lang="de-DE"/>
              <a:t>ResNet50 liefert die beste Gesamtleistung</a:t>
            </a:r>
          </a:p>
          <a:p>
            <a:pPr lvl="1"/>
            <a:r>
              <a:rPr lang="de-DE" err="1"/>
              <a:t>Accuracy</a:t>
            </a:r>
            <a:r>
              <a:rPr lang="de-DE"/>
              <a:t>: 96,98%</a:t>
            </a:r>
            <a:endParaRPr lang="en-US"/>
          </a:p>
          <a:p>
            <a:pPr lvl="1"/>
            <a:r>
              <a:rPr lang="de-DE"/>
              <a:t>F1-Score: 96,24%</a:t>
            </a:r>
          </a:p>
          <a:p>
            <a:r>
              <a:rPr lang="de-DE"/>
              <a:t>Vortrainierte Modelle reduzieren den Trainingsaufwand und steigern die Genauigkeit</a:t>
            </a:r>
          </a:p>
          <a:p>
            <a:r>
              <a:rPr lang="de-DE"/>
              <a:t>Krankheiten können auf dem Datensatz noch zuverlässiger automatisch erkannt werden</a:t>
            </a:r>
          </a:p>
          <a:p>
            <a:r>
              <a:rPr lang="de-DE"/>
              <a:t>Trotz hoher Gesamtleistung bleibt Target-Spot die schwächste Klasse</a:t>
            </a:r>
          </a:p>
          <a:p>
            <a:pPr marL="457200" lvl="1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1701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727E-3798-99DE-0CDB-9E96F9F50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5C8A69-563D-9586-C2D5-13FE617DC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8988"/>
            <a:ext cx="9144000" cy="1020761"/>
          </a:xfrm>
        </p:spPr>
        <p:txBody>
          <a:bodyPr/>
          <a:lstStyle/>
          <a:p>
            <a:r>
              <a:rPr lang="de-DE" dirty="0"/>
              <a:t>Verweise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5C9816-43CB-B799-0BA8-37C60AD63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06713"/>
            <a:ext cx="9144000" cy="1655762"/>
          </a:xfrm>
        </p:spPr>
        <p:txBody>
          <a:bodyPr/>
          <a:lstStyle/>
          <a:p>
            <a:pPr algn="l"/>
            <a:r>
              <a:rPr lang="de-DE" dirty="0"/>
              <a:t>Datengrundlage: </a:t>
            </a:r>
            <a:r>
              <a:rPr lang="de-DE" dirty="0">
                <a:hlinkClick r:id="rId2"/>
              </a:rPr>
              <a:t>https://data.mendeley.com/datasets/tywbtsjrjv/1</a:t>
            </a:r>
            <a:endParaRPr lang="de-DE" dirty="0"/>
          </a:p>
          <a:p>
            <a:pPr algn="l"/>
            <a:r>
              <a:rPr lang="de-DE" dirty="0"/>
              <a:t>GitHub-Repository: https://github.com/olHannes/Deep-Learning</a:t>
            </a:r>
          </a:p>
          <a:p>
            <a:pPr algn="l"/>
            <a:endParaRPr lang="de-DE" dirty="0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64AC69C-C0E9-16D6-8BE0-C86BBE998F12}"/>
              </a:ext>
            </a:extLst>
          </p:cNvPr>
          <p:cNvCxnSpPr>
            <a:cxnSpLocks/>
          </p:cNvCxnSpPr>
          <p:nvPr/>
        </p:nvCxnSpPr>
        <p:spPr>
          <a:xfrm>
            <a:off x="776654" y="1834950"/>
            <a:ext cx="1063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272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913283-77EC-C7E8-9298-3D85EC128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468" y="1509674"/>
            <a:ext cx="10181064" cy="72719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de-DE" sz="4800"/>
              <a:t>Vielen Dank für Ihre Aufmerksamkeit!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C4BA44-44F1-B45C-6C97-F171B8A7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Marius Rösner &amp; Hannes Olschok - Deep Learning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ABF767-5CD1-8316-6E3A-C29AC687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3F824-EAFD-48EF-97E1-71FACC797DE8}" type="slidenum">
              <a:rPr lang="de-DE" smtClean="0"/>
              <a:t>25</a:t>
            </a:fld>
            <a:endParaRPr lang="de-DE"/>
          </a:p>
        </p:txBody>
      </p:sp>
      <p:pic>
        <p:nvPicPr>
          <p:cNvPr id="7" name="Grafik 6" descr="Aufkleber Lustige Tomate">
            <a:extLst>
              <a:ext uri="{FF2B5EF4-FFF2-40B4-BE49-F238E27FC236}">
                <a16:creationId xmlns:a16="http://schemas.microsoft.com/office/drawing/2014/main" id="{E14AEF4B-5830-81D1-7A12-350459A98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98" y="2311779"/>
            <a:ext cx="5512418" cy="332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23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a797a0-2f7e-446a-bfcb-d818e7cc77c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1D687163B65EC438FED07FD7A6F3EE9" ma:contentTypeVersion="12" ma:contentTypeDescription="Ein neues Dokument erstellen." ma:contentTypeScope="" ma:versionID="e68b3df3367397c7d29ea11864144cc1">
  <xsd:schema xmlns:xsd="http://www.w3.org/2001/XMLSchema" xmlns:xs="http://www.w3.org/2001/XMLSchema" xmlns:p="http://schemas.microsoft.com/office/2006/metadata/properties" xmlns:ns3="03a797a0-2f7e-446a-bfcb-d818e7cc77c8" targetNamespace="http://schemas.microsoft.com/office/2006/metadata/properties" ma:root="true" ma:fieldsID="10b3777d786de021fbb865bcc9009757" ns3:_="">
    <xsd:import namespace="03a797a0-2f7e-446a-bfcb-d818e7cc77c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a797a0-2f7e-446a-bfcb-d818e7cc77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D4FB60-452E-46F6-8F38-07F73AD7A2A5}">
  <ds:schemaRefs>
    <ds:schemaRef ds:uri="http://www.w3.org/XML/1998/namespace"/>
    <ds:schemaRef ds:uri="03a797a0-2f7e-446a-bfcb-d818e7cc77c8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0A88E3E-257B-4518-BB30-4FD7EA3E23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926905-EEAC-4FBA-804B-CC82D94F03F2}">
  <ds:schemaRefs>
    <ds:schemaRef ds:uri="03a797a0-2f7e-446a-bfcb-d818e7cc77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Microsoft Office PowerPoint</Application>
  <PresentationFormat>Breitbild</PresentationFormat>
  <Paragraphs>194</Paragraphs>
  <Slides>25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Office</vt:lpstr>
      <vt:lpstr>Station 2 – Deep Learning</vt:lpstr>
      <vt:lpstr>Agenda</vt:lpstr>
      <vt:lpstr>Thema</vt:lpstr>
      <vt:lpstr>Thema</vt:lpstr>
      <vt:lpstr>Thema</vt:lpstr>
      <vt:lpstr>Recap Station 1</vt:lpstr>
      <vt:lpstr>Recap Station 1</vt:lpstr>
      <vt:lpstr>Recap Station 1</vt:lpstr>
      <vt:lpstr>Recap Station 1</vt:lpstr>
      <vt:lpstr>Recap Station 1</vt:lpstr>
      <vt:lpstr>Recap Station 1</vt:lpstr>
      <vt:lpstr>Recap Station 1</vt:lpstr>
      <vt:lpstr>Transfer Learning</vt:lpstr>
      <vt:lpstr>Modelle</vt:lpstr>
      <vt:lpstr>Modelle - Besonderheiten</vt:lpstr>
      <vt:lpstr>Trainingsverhalten - ResNet</vt:lpstr>
      <vt:lpstr>Trainingsverhalten - VGG</vt:lpstr>
      <vt:lpstr>Ergebnisse</vt:lpstr>
      <vt:lpstr>Ergebnisse</vt:lpstr>
      <vt:lpstr>Evaluation und Fazit</vt:lpstr>
      <vt:lpstr>Evaluation</vt:lpstr>
      <vt:lpstr>Evaluation</vt:lpstr>
      <vt:lpstr>Fazit</vt:lpstr>
      <vt:lpstr>Verweise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Hannes Olschok</dc:creator>
  <cp:lastModifiedBy>Hannes Olschok</cp:lastModifiedBy>
  <cp:revision>2</cp:revision>
  <dcterms:created xsi:type="dcterms:W3CDTF">2026-05-25T12:19:50Z</dcterms:created>
  <dcterms:modified xsi:type="dcterms:W3CDTF">2026-06-08T12:26:15Z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0x01010021D687163B65EC438FED07FD7A6F3EE9</vt:lpwstr>
  </property>
</Properties>
</file>